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5" r:id="rId4"/>
    <p:sldId id="264" r:id="rId5"/>
    <p:sldId id="266" r:id="rId6"/>
    <p:sldId id="271" r:id="rId7"/>
    <p:sldId id="270" r:id="rId8"/>
    <p:sldId id="272" r:id="rId9"/>
    <p:sldId id="269" r:id="rId10"/>
    <p:sldId id="268" r:id="rId11"/>
    <p:sldId id="267" r:id="rId12"/>
    <p:sldId id="273" r:id="rId13"/>
    <p:sldId id="276" r:id="rId14"/>
    <p:sldId id="275"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0"/>
  </p:normalViewPr>
  <p:slideViewPr>
    <p:cSldViewPr snapToGrid="0">
      <p:cViewPr>
        <p:scale>
          <a:sx n="66" d="100"/>
          <a:sy n="66" d="100"/>
        </p:scale>
        <p:origin x="972"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CD77-0C80-1549-E42C-6E5988F1CA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63629E-F6B7-D0BF-281C-AA1C3BA5A3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4B1EFC-584A-FB48-9A60-C724DB38C6B3}"/>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5" name="Footer Placeholder 4">
            <a:extLst>
              <a:ext uri="{FF2B5EF4-FFF2-40B4-BE49-F238E27FC236}">
                <a16:creationId xmlns:a16="http://schemas.microsoft.com/office/drawing/2014/main" id="{A4E9D036-EAFE-DD11-3C81-5D31445CD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6265E4-DB3C-475A-E756-CAF4184C5DC1}"/>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2847358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75738-691F-D206-9DEB-D299726A53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C05A96-AFE1-385C-DF87-ED8EE82918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A46528-937F-F7E4-D9A5-DBDF3ADC211F}"/>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5" name="Footer Placeholder 4">
            <a:extLst>
              <a:ext uri="{FF2B5EF4-FFF2-40B4-BE49-F238E27FC236}">
                <a16:creationId xmlns:a16="http://schemas.microsoft.com/office/drawing/2014/main" id="{2BD8D1DA-7168-9251-4EC7-489730499E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28127A-9F13-FF2C-B16C-EE2A87493CE3}"/>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123610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62C0-7F8A-560D-3AF0-C95AF05296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7B9B4A-5215-8D6A-BD66-0D60606B9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180B89-B3F6-18BD-D917-B33FCEEC6CC3}"/>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5" name="Footer Placeholder 4">
            <a:extLst>
              <a:ext uri="{FF2B5EF4-FFF2-40B4-BE49-F238E27FC236}">
                <a16:creationId xmlns:a16="http://schemas.microsoft.com/office/drawing/2014/main" id="{5C8E5F70-6CC4-02B2-9A29-B6294F745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FC88DF-9A55-5FA0-B4AE-82B67FF0D67E}"/>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1897002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DFC0E-878C-8927-B38B-CD8736FD72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0E0519-6EDE-6464-FB0F-EAE9B5BFEF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1A31D6-6A5C-DC4D-01C5-6EBF92446A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BB9723-7C99-135A-0D5E-1DB5678D5EA8}"/>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6" name="Footer Placeholder 5">
            <a:extLst>
              <a:ext uri="{FF2B5EF4-FFF2-40B4-BE49-F238E27FC236}">
                <a16:creationId xmlns:a16="http://schemas.microsoft.com/office/drawing/2014/main" id="{C65FFB19-0385-D0A8-1C08-12E067A0B0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B09C12-C4F0-81BA-9DB4-E52417C74097}"/>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1549619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4C8BD-DA51-F0BD-CD72-48AEE688377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098A9-8204-4735-0D6D-F0945C1B1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3AF37E-6CA9-C925-FFAF-8707036385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4533DF-F2E6-D358-59C5-195777066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86C714-1DE8-5864-E0A1-92F0BE5D7F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73BF09-9493-D983-B385-F10A36269B1D}"/>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8" name="Footer Placeholder 7">
            <a:extLst>
              <a:ext uri="{FF2B5EF4-FFF2-40B4-BE49-F238E27FC236}">
                <a16:creationId xmlns:a16="http://schemas.microsoft.com/office/drawing/2014/main" id="{23B245A1-D246-E0CE-5519-911690E783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1DA93F-83D1-1E95-B792-50212B4584A4}"/>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228162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7B7D7-6EB3-6058-64DE-AAFA076074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4710FA-8D5B-AF19-F17D-E9551B879E7D}"/>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4" name="Footer Placeholder 3">
            <a:extLst>
              <a:ext uri="{FF2B5EF4-FFF2-40B4-BE49-F238E27FC236}">
                <a16:creationId xmlns:a16="http://schemas.microsoft.com/office/drawing/2014/main" id="{E6432952-DBB9-EC76-AC27-70A5F3274C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030ECF-0E5D-2F02-A14A-8D6F755D34DC}"/>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1573593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FD4692-C09F-DB53-AB26-E692D416168C}"/>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3" name="Footer Placeholder 2">
            <a:extLst>
              <a:ext uri="{FF2B5EF4-FFF2-40B4-BE49-F238E27FC236}">
                <a16:creationId xmlns:a16="http://schemas.microsoft.com/office/drawing/2014/main" id="{C282C80D-A199-2F8D-BE39-1762AAE76D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42EE63-CA40-7988-5323-7B159E1421F4}"/>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901262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83DB-AA46-130E-B0AC-94588E810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CF4F30-827D-358E-39E2-636A4B1E5C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940D84-DEDB-9076-9AC0-A604EF485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79122E-60A9-44B7-65DA-73F30D9FE541}"/>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6" name="Footer Placeholder 5">
            <a:extLst>
              <a:ext uri="{FF2B5EF4-FFF2-40B4-BE49-F238E27FC236}">
                <a16:creationId xmlns:a16="http://schemas.microsoft.com/office/drawing/2014/main" id="{7AE8895B-2044-E703-BBEC-2B2EF6B03C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F1387E-10CB-0EC1-3E2A-7AC7E1184BE2}"/>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207376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50852-D36B-86C2-4EFE-46A96B899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BDC9D9-C7C0-798C-582E-9BDA6E0D8B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49C8B5-050B-3F31-88DE-E716695468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62F115-01BF-13F1-BA19-809B52898047}"/>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6" name="Footer Placeholder 5">
            <a:extLst>
              <a:ext uri="{FF2B5EF4-FFF2-40B4-BE49-F238E27FC236}">
                <a16:creationId xmlns:a16="http://schemas.microsoft.com/office/drawing/2014/main" id="{1746FB10-164E-D001-9391-AA57D29B95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9F9B3B-B9C1-0DA0-FBD5-DA5EAACC9143}"/>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3707801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13D8D-3172-1D45-DCFB-857C81F123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85C458-5C69-CD34-A3FB-E0673A8940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1DBAA2-631C-6C97-3EF8-220F47AB0341}"/>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5" name="Footer Placeholder 4">
            <a:extLst>
              <a:ext uri="{FF2B5EF4-FFF2-40B4-BE49-F238E27FC236}">
                <a16:creationId xmlns:a16="http://schemas.microsoft.com/office/drawing/2014/main" id="{CBF7913F-F1C0-86BD-7299-30F0E44715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FAC95A-162D-3DB6-A580-16F601DA65E6}"/>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2519329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A969A2-CFA4-33C6-FB07-6861E8C41A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686686-4DA8-7408-B162-B9FA563FE1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0BDD99-0029-BBDB-3E56-6BC3B6F2630F}"/>
              </a:ext>
            </a:extLst>
          </p:cNvPr>
          <p:cNvSpPr>
            <a:spLocks noGrp="1"/>
          </p:cNvSpPr>
          <p:nvPr>
            <p:ph type="dt" sz="half" idx="10"/>
          </p:nvPr>
        </p:nvSpPr>
        <p:spPr/>
        <p:txBody>
          <a:bodyPr/>
          <a:lstStyle/>
          <a:p>
            <a:fld id="{246ABDCB-1CD3-4246-BF78-C43F94F36DF1}" type="datetimeFigureOut">
              <a:rPr lang="en-IN" smtClean="0"/>
              <a:t>07-05-2026</a:t>
            </a:fld>
            <a:endParaRPr lang="en-IN"/>
          </a:p>
        </p:txBody>
      </p:sp>
      <p:sp>
        <p:nvSpPr>
          <p:cNvPr id="5" name="Footer Placeholder 4">
            <a:extLst>
              <a:ext uri="{FF2B5EF4-FFF2-40B4-BE49-F238E27FC236}">
                <a16:creationId xmlns:a16="http://schemas.microsoft.com/office/drawing/2014/main" id="{4A497431-F1A9-BED7-F3E3-333C641477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D7E75C-C41A-29F1-27C2-9ECE723AE4F6}"/>
              </a:ext>
            </a:extLst>
          </p:cNvPr>
          <p:cNvSpPr>
            <a:spLocks noGrp="1"/>
          </p:cNvSpPr>
          <p:nvPr>
            <p:ph type="sldNum" sz="quarter" idx="12"/>
          </p:nvPr>
        </p:nvSpPr>
        <p:spPr/>
        <p:txBody>
          <a:bodyPr/>
          <a:lstStyle/>
          <a:p>
            <a:fld id="{2CCD8EE0-F089-49D8-A3B6-7D0D57FDEBD6}" type="slidenum">
              <a:rPr lang="en-IN" smtClean="0"/>
              <a:t>‹#›</a:t>
            </a:fld>
            <a:endParaRPr lang="en-IN"/>
          </a:p>
        </p:txBody>
      </p:sp>
    </p:spTree>
    <p:extLst>
      <p:ext uri="{BB962C8B-B14F-4D97-AF65-F5344CB8AC3E}">
        <p14:creationId xmlns:p14="http://schemas.microsoft.com/office/powerpoint/2010/main" val="206701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927B77-E5C1-FE1B-6137-CB32002E1A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86881F-BA01-AA29-220F-E85EAF9511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9DC933-C1A5-2059-69C6-FA63AE1970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6ABDCB-1CD3-4246-BF78-C43F94F36DF1}" type="datetimeFigureOut">
              <a:rPr lang="en-IN" smtClean="0"/>
              <a:t>07-05-2026</a:t>
            </a:fld>
            <a:endParaRPr lang="en-IN"/>
          </a:p>
        </p:txBody>
      </p:sp>
      <p:sp>
        <p:nvSpPr>
          <p:cNvPr id="5" name="Footer Placeholder 4">
            <a:extLst>
              <a:ext uri="{FF2B5EF4-FFF2-40B4-BE49-F238E27FC236}">
                <a16:creationId xmlns:a16="http://schemas.microsoft.com/office/drawing/2014/main" id="{6315E50D-074F-D22D-3FD9-7858026339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28759E-033C-195E-D3B6-07C794D1A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CD8EE0-F089-49D8-A3B6-7D0D57FDEBD6}" type="slidenum">
              <a:rPr lang="en-IN" smtClean="0"/>
              <a:t>‹#›</a:t>
            </a:fld>
            <a:endParaRPr lang="en-IN"/>
          </a:p>
        </p:txBody>
      </p:sp>
    </p:spTree>
    <p:extLst>
      <p:ext uri="{BB962C8B-B14F-4D97-AF65-F5344CB8AC3E}">
        <p14:creationId xmlns:p14="http://schemas.microsoft.com/office/powerpoint/2010/main" val="1494570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bject 2">
            <a:extLst>
              <a:ext uri="{FF2B5EF4-FFF2-40B4-BE49-F238E27FC236}">
                <a16:creationId xmlns:a16="http://schemas.microsoft.com/office/drawing/2014/main" id="{83101C9D-382D-5507-1153-8FFB18F65C94}"/>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14" name="TextBox 13">
            <a:extLst>
              <a:ext uri="{FF2B5EF4-FFF2-40B4-BE49-F238E27FC236}">
                <a16:creationId xmlns:a16="http://schemas.microsoft.com/office/drawing/2014/main" id="{C41D699C-C460-DD06-E51A-D7F5BA7F6DB2}"/>
              </a:ext>
            </a:extLst>
          </p:cNvPr>
          <p:cNvSpPr txBox="1"/>
          <p:nvPr/>
        </p:nvSpPr>
        <p:spPr>
          <a:xfrm>
            <a:off x="7779657" y="311613"/>
            <a:ext cx="3307040" cy="646331"/>
          </a:xfrm>
          <a:prstGeom prst="rect">
            <a:avLst/>
          </a:prstGeom>
          <a:noFill/>
        </p:spPr>
        <p:txBody>
          <a:bodyPr wrap="square" rtlCol="0">
            <a:spAutoFit/>
          </a:bodyPr>
          <a:lstStyle/>
          <a:p>
            <a:pPr algn="r"/>
            <a:r>
              <a:rPr lang="en-US" dirty="0">
                <a:solidFill>
                  <a:srgbClr val="002060"/>
                </a:solidFill>
                <a:latin typeface="Times New Roman" panose="02020603050405020304" pitchFamily="18" charset="0"/>
                <a:cs typeface="Times New Roman" panose="02020603050405020304" pitchFamily="18" charset="0"/>
              </a:rPr>
              <a:t>GOVERNMENT COLLEGE OF ENGINEERING, ERODE</a:t>
            </a:r>
            <a:endParaRPr lang="en-IN" dirty="0">
              <a:solidFill>
                <a:srgbClr val="002060"/>
              </a:solidFill>
              <a:latin typeface="Times New Roman" panose="02020603050405020304" pitchFamily="18"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B1A55F67-CF88-CC25-069F-754DAF72BACB}"/>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4A8AF3F4-63C2-C493-C5B0-4D9DBB7F0265}"/>
              </a:ext>
            </a:extLst>
          </p:cNvPr>
          <p:cNvSpPr txBox="1"/>
          <p:nvPr/>
        </p:nvSpPr>
        <p:spPr>
          <a:xfrm>
            <a:off x="1308505" y="297098"/>
            <a:ext cx="2523268" cy="646331"/>
          </a:xfrm>
          <a:prstGeom prst="rect">
            <a:avLst/>
          </a:prstGeom>
          <a:noFill/>
        </p:spPr>
        <p:txBody>
          <a:bodyPr wrap="square" rtlCol="0">
            <a:spAutoFit/>
          </a:bodyPr>
          <a:lstStyle/>
          <a:p>
            <a:r>
              <a:rPr lang="en-US" dirty="0">
                <a:solidFill>
                  <a:srgbClr val="002060"/>
                </a:solidFill>
                <a:latin typeface="Times New Roman" panose="02020603050405020304" pitchFamily="18" charset="0"/>
                <a:cs typeface="Times New Roman" panose="02020603050405020304" pitchFamily="18" charset="0"/>
              </a:rPr>
              <a:t>ANNA UNIVERSITY</a:t>
            </a:r>
          </a:p>
          <a:p>
            <a:r>
              <a:rPr lang="en-US" dirty="0">
                <a:solidFill>
                  <a:srgbClr val="002060"/>
                </a:solidFill>
                <a:latin typeface="Times New Roman" panose="02020603050405020304" pitchFamily="18" charset="0"/>
                <a:cs typeface="Times New Roman" panose="02020603050405020304" pitchFamily="18" charset="0"/>
              </a:rPr>
              <a:t>CHENNAI</a:t>
            </a:r>
            <a:endParaRPr lang="en-IN" dirty="0">
              <a:solidFill>
                <a:srgbClr val="002060"/>
              </a:solidFill>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4F14F0DA-E5E2-0A4F-7FA1-C1615FA42F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sp>
        <p:nvSpPr>
          <p:cNvPr id="24" name="TextBox 23">
            <a:extLst>
              <a:ext uri="{FF2B5EF4-FFF2-40B4-BE49-F238E27FC236}">
                <a16:creationId xmlns:a16="http://schemas.microsoft.com/office/drawing/2014/main" id="{2F8F77E3-ECEC-CC9A-08B4-B2840BCAB777}"/>
              </a:ext>
            </a:extLst>
          </p:cNvPr>
          <p:cNvSpPr txBox="1"/>
          <p:nvPr/>
        </p:nvSpPr>
        <p:spPr>
          <a:xfrm>
            <a:off x="579201" y="1560734"/>
            <a:ext cx="11033596" cy="707886"/>
          </a:xfrm>
          <a:prstGeom prst="rect">
            <a:avLst/>
          </a:prstGeom>
          <a:noFill/>
        </p:spPr>
        <p:txBody>
          <a:bodyPr wrap="square" rtlCol="0">
            <a:spAutoFit/>
          </a:bodyPr>
          <a:lstStyle/>
          <a:p>
            <a:r>
              <a:rPr lang="en-US" sz="4000" dirty="0">
                <a:solidFill>
                  <a:schemeClr val="accent1">
                    <a:lumMod val="75000"/>
                  </a:schemeClr>
                </a:solidFill>
                <a:latin typeface="Times New Roman" panose="02020603050405020304" pitchFamily="18" charset="0"/>
                <a:cs typeface="Times New Roman" panose="02020603050405020304" pitchFamily="18" charset="0"/>
              </a:rPr>
              <a:t>GOVERNMENT WELFARE ADVISORY SYSTEM </a:t>
            </a:r>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28" name="object 32">
            <a:extLst>
              <a:ext uri="{FF2B5EF4-FFF2-40B4-BE49-F238E27FC236}">
                <a16:creationId xmlns:a16="http://schemas.microsoft.com/office/drawing/2014/main" id="{8C5B2C4C-9711-E2AB-DB7F-7C390681994C}"/>
              </a:ext>
            </a:extLst>
          </p:cNvPr>
          <p:cNvSpPr txBox="1"/>
          <p:nvPr/>
        </p:nvSpPr>
        <p:spPr>
          <a:xfrm>
            <a:off x="946878" y="3089919"/>
            <a:ext cx="5149121" cy="2723051"/>
          </a:xfrm>
          <a:prstGeom prst="rect">
            <a:avLst/>
          </a:prstGeom>
          <a:noFill/>
          <a:ln cap="flat">
            <a:noFill/>
          </a:ln>
        </p:spPr>
        <p:txBody>
          <a:bodyPr vert="horz" wrap="square" lIns="0" tIns="90168" rIns="0" bIns="0" anchor="t" anchorCtr="0" compatLnSpc="1">
            <a:spAutoFit/>
          </a:bodyPr>
          <a:lstStyle/>
          <a:p>
            <a:pPr marL="13972" marR="0" lvl="0" indent="0" defTabSz="914400" rtl="0" fontAlgn="auto" hangingPunct="1">
              <a:lnSpc>
                <a:spcPct val="100000"/>
              </a:lnSpc>
              <a:spcBef>
                <a:spcPts val="710"/>
              </a:spcBef>
              <a:spcAft>
                <a:spcPts val="0"/>
              </a:spcAft>
              <a:buNone/>
              <a:tabLst/>
              <a:defRPr sz="1800" b="0" i="0" u="none" strike="noStrike" kern="0" cap="none" spc="0" baseline="0">
                <a:solidFill>
                  <a:srgbClr val="000000"/>
                </a:solidFill>
                <a:uFillTx/>
              </a:defRPr>
            </a:pPr>
            <a:r>
              <a:rPr lang="en-US" sz="1600" b="1" i="0" u="none" strike="noStrike" kern="0" cap="none" spc="0" baseline="0" dirty="0">
                <a:solidFill>
                  <a:srgbClr val="1F497D"/>
                </a:solidFill>
                <a:uFillTx/>
                <a:latin typeface="Times New Roman" panose="02020603050405020304" pitchFamily="18" charset="0"/>
                <a:cs typeface="Times New Roman" panose="02020603050405020304" pitchFamily="18" charset="0"/>
              </a:rPr>
              <a:t>SUBMITTED</a:t>
            </a:r>
            <a:r>
              <a:rPr lang="en-US" sz="1600" b="1" i="0" u="none" strike="noStrike" kern="0" cap="none" spc="290" baseline="0" dirty="0">
                <a:solidFill>
                  <a:srgbClr val="1F497D"/>
                </a:solidFill>
                <a:uFillTx/>
                <a:latin typeface="Times New Roman" panose="02020603050405020304" pitchFamily="18" charset="0"/>
                <a:cs typeface="Times New Roman" panose="02020603050405020304" pitchFamily="18" charset="0"/>
              </a:rPr>
              <a:t> </a:t>
            </a:r>
            <a:r>
              <a:rPr lang="en-US" sz="1600" b="1" i="0" u="none" strike="noStrike" kern="0" cap="none" spc="-25" baseline="0" dirty="0">
                <a:solidFill>
                  <a:srgbClr val="1F497D"/>
                </a:solidFill>
                <a:uFillTx/>
                <a:latin typeface="Times New Roman" panose="02020603050405020304" pitchFamily="18" charset="0"/>
                <a:cs typeface="Times New Roman" panose="02020603050405020304" pitchFamily="18" charset="0"/>
              </a:rPr>
              <a:t>BY</a:t>
            </a:r>
            <a:endParaRPr lang="en-US" sz="1600" b="0" i="0" u="none" strike="noStrike" kern="0" cap="none" spc="0" baseline="0" dirty="0">
              <a:solidFill>
                <a:srgbClr val="1F497D"/>
              </a:solidFill>
              <a:uFillTx/>
              <a:latin typeface="Times New Roman" panose="02020603050405020304" pitchFamily="18" charset="0"/>
              <a:cs typeface="Times New Roman" panose="02020603050405020304" pitchFamily="18" charset="0"/>
            </a:endParaRP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kern="0" dirty="0">
                <a:solidFill>
                  <a:srgbClr val="000000"/>
                </a:solidFill>
                <a:latin typeface="Times New Roman" panose="02020603050405020304" pitchFamily="18" charset="0"/>
                <a:cs typeface="Times New Roman" panose="02020603050405020304" pitchFamily="18" charset="0"/>
              </a:rPr>
              <a:t>KARTHI C</a:t>
            </a:r>
            <a:r>
              <a:rPr lang="en-US" sz="1600" b="0" i="0" u="none" strike="noStrike" kern="0" cap="none" spc="0" baseline="0" dirty="0">
                <a:solidFill>
                  <a:srgbClr val="000000"/>
                </a:solidFill>
                <a:uFillTx/>
                <a:latin typeface="Times New Roman" panose="02020603050405020304" pitchFamily="18" charset="0"/>
                <a:cs typeface="Times New Roman" panose="02020603050405020304" pitchFamily="18" charset="0"/>
              </a:rPr>
              <a:t>                           (731122104024)</a:t>
            </a: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kern="0" dirty="0">
                <a:solidFill>
                  <a:srgbClr val="000000"/>
                </a:solidFill>
                <a:latin typeface="Times New Roman" panose="02020603050405020304" pitchFamily="18" charset="0"/>
                <a:cs typeface="Times New Roman" panose="02020603050405020304" pitchFamily="18" charset="0"/>
              </a:rPr>
              <a:t>SANJAY KUMAR S </a:t>
            </a:r>
            <a:r>
              <a:rPr lang="en-US" sz="1600" b="0" i="0" u="none" strike="noStrike" kern="0" cap="none" spc="0" baseline="0" dirty="0">
                <a:solidFill>
                  <a:srgbClr val="000000"/>
                </a:solidFill>
                <a:uFillTx/>
                <a:latin typeface="Times New Roman" panose="02020603050405020304" pitchFamily="18" charset="0"/>
                <a:cs typeface="Times New Roman" panose="02020603050405020304" pitchFamily="18" charset="0"/>
              </a:rPr>
              <a:t>          (731122104044)</a:t>
            </a: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kern="0" dirty="0">
                <a:solidFill>
                  <a:srgbClr val="000000"/>
                </a:solidFill>
                <a:latin typeface="Times New Roman" panose="02020603050405020304" pitchFamily="18" charset="0"/>
                <a:cs typeface="Times New Roman" panose="02020603050405020304" pitchFamily="18" charset="0"/>
              </a:rPr>
              <a:t>SHANMUGA RAJA M </a:t>
            </a:r>
            <a:r>
              <a:rPr lang="en-US" sz="1600" b="0" i="0" u="none" strike="noStrike" kern="0" cap="none" spc="0" baseline="0" dirty="0">
                <a:solidFill>
                  <a:srgbClr val="000000"/>
                </a:solidFill>
                <a:uFillTx/>
                <a:latin typeface="Times New Roman" panose="02020603050405020304" pitchFamily="18" charset="0"/>
                <a:cs typeface="Times New Roman" panose="02020603050405020304" pitchFamily="18" charset="0"/>
              </a:rPr>
              <a:t>      (731122104047)</a:t>
            </a: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b="0" i="0" u="none" strike="noStrike" kern="0" cap="none" spc="60" baseline="0" dirty="0">
                <a:solidFill>
                  <a:srgbClr val="000000"/>
                </a:solidFill>
                <a:uFillTx/>
                <a:latin typeface="Times New Roman" panose="02020603050405020304" pitchFamily="18" charset="0"/>
                <a:cs typeface="Times New Roman" panose="02020603050405020304" pitchFamily="18" charset="0"/>
              </a:rPr>
              <a:t>DEPARTMENT OF COMPUTER SCIENCE AND ENGINEERING  </a:t>
            </a:r>
            <a:r>
              <a:rPr lang="en-US" sz="1600" b="0" i="0" u="none" strike="noStrike" kern="0" cap="none" spc="114" baseline="0" dirty="0">
                <a:solidFill>
                  <a:srgbClr val="343D49"/>
                </a:solidFill>
                <a:uFillTx/>
                <a:latin typeface="Times New Roman" panose="02020603050405020304" pitchFamily="18" charset="0"/>
                <a:cs typeface="Times New Roman" panose="02020603050405020304" pitchFamily="18" charset="0"/>
              </a:rPr>
              <a:t> </a:t>
            </a:r>
            <a:endParaRPr lang="en-US" sz="1600" b="0" i="0" u="none" strike="noStrike" kern="0" cap="none" spc="-25" baseline="0" dirty="0">
              <a:solidFill>
                <a:srgbClr val="343D49"/>
              </a:solidFill>
              <a:uFillTx/>
              <a:latin typeface="Times New Roman" panose="02020603050405020304" pitchFamily="18" charset="0"/>
              <a:cs typeface="Times New Roman" panose="02020603050405020304" pitchFamily="18" charset="0"/>
            </a:endParaRPr>
          </a:p>
        </p:txBody>
      </p:sp>
      <p:sp>
        <p:nvSpPr>
          <p:cNvPr id="29" name="object 32">
            <a:extLst>
              <a:ext uri="{FF2B5EF4-FFF2-40B4-BE49-F238E27FC236}">
                <a16:creationId xmlns:a16="http://schemas.microsoft.com/office/drawing/2014/main" id="{F951A0FD-EF4E-E7EE-AF25-B189D2C5BA89}"/>
              </a:ext>
            </a:extLst>
          </p:cNvPr>
          <p:cNvSpPr txBox="1"/>
          <p:nvPr/>
        </p:nvSpPr>
        <p:spPr>
          <a:xfrm>
            <a:off x="6779186" y="3089919"/>
            <a:ext cx="5149121" cy="2230609"/>
          </a:xfrm>
          <a:prstGeom prst="rect">
            <a:avLst/>
          </a:prstGeom>
          <a:noFill/>
          <a:ln cap="flat">
            <a:noFill/>
          </a:ln>
        </p:spPr>
        <p:txBody>
          <a:bodyPr vert="horz" wrap="square" lIns="0" tIns="90168" rIns="0" bIns="0" anchor="t" anchorCtr="0" compatLnSpc="1">
            <a:spAutoFit/>
          </a:bodyPr>
          <a:lstStyle/>
          <a:p>
            <a:pPr marL="13972" marR="0" lvl="0" indent="0" defTabSz="914400" rtl="0" fontAlgn="auto" hangingPunct="1">
              <a:lnSpc>
                <a:spcPct val="100000"/>
              </a:lnSpc>
              <a:spcBef>
                <a:spcPts val="710"/>
              </a:spcBef>
              <a:spcAft>
                <a:spcPts val="0"/>
              </a:spcAft>
              <a:buNone/>
              <a:tabLst/>
              <a:defRPr sz="1800" b="0" i="0" u="none" strike="noStrike" kern="0" cap="none" spc="0" baseline="0">
                <a:solidFill>
                  <a:srgbClr val="000000"/>
                </a:solidFill>
                <a:uFillTx/>
              </a:defRPr>
            </a:pPr>
            <a:r>
              <a:rPr lang="en-US" sz="1600" b="1" kern="0" dirty="0">
                <a:solidFill>
                  <a:srgbClr val="1F497D"/>
                </a:solidFill>
                <a:latin typeface="Times New Roman" panose="02020603050405020304" pitchFamily="18" charset="0"/>
                <a:cs typeface="Times New Roman" panose="02020603050405020304" pitchFamily="18" charset="0"/>
              </a:rPr>
              <a:t>PROJECT SUPERVISOR</a:t>
            </a:r>
            <a:endParaRPr lang="en-US" sz="1600" b="0" i="0" u="none" strike="noStrike" kern="0" cap="none" spc="0" baseline="0" dirty="0">
              <a:solidFill>
                <a:srgbClr val="1F497D"/>
              </a:solidFill>
              <a:uFillTx/>
              <a:latin typeface="Times New Roman" panose="02020603050405020304" pitchFamily="18" charset="0"/>
              <a:cs typeface="Times New Roman" panose="02020603050405020304" pitchFamily="18" charset="0"/>
            </a:endParaRP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b="0" i="0" u="none" strike="noStrike" kern="0" cap="none" spc="60" baseline="0" dirty="0">
                <a:solidFill>
                  <a:srgbClr val="000000"/>
                </a:solidFill>
                <a:uFillTx/>
                <a:latin typeface="Times New Roman" panose="02020603050405020304" pitchFamily="18" charset="0"/>
                <a:cs typeface="Times New Roman" panose="02020603050405020304" pitchFamily="18" charset="0"/>
              </a:rPr>
              <a:t>Mrs. S. VIJAYALAKSHMI M.E.,</a:t>
            </a: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kern="0" spc="60" dirty="0">
                <a:solidFill>
                  <a:srgbClr val="000000"/>
                </a:solidFill>
                <a:latin typeface="Times New Roman" panose="02020603050405020304" pitchFamily="18" charset="0"/>
                <a:cs typeface="Times New Roman" panose="02020603050405020304" pitchFamily="18" charset="0"/>
              </a:rPr>
              <a:t>ASSISTANT PROFESSOR</a:t>
            </a:r>
            <a:endParaRPr lang="en-US" sz="1600" b="0" i="0" u="none" strike="noStrike" kern="0" cap="none" spc="60" baseline="0" dirty="0">
              <a:solidFill>
                <a:srgbClr val="000000"/>
              </a:solidFill>
              <a:uFillTx/>
              <a:latin typeface="Times New Roman" panose="02020603050405020304" pitchFamily="18" charset="0"/>
              <a:cs typeface="Times New Roman" panose="02020603050405020304" pitchFamily="18" charset="0"/>
            </a:endParaRPr>
          </a:p>
          <a:p>
            <a:pPr marL="12701" marR="5084" lvl="0" indent="1901" defTabSz="914400" rtl="0" fontAlgn="auto" hangingPunct="1">
              <a:lnSpc>
                <a:spcPct val="200000"/>
              </a:lnSpc>
              <a:spcBef>
                <a:spcPts val="25"/>
              </a:spcBef>
              <a:spcAft>
                <a:spcPts val="0"/>
              </a:spcAft>
              <a:buNone/>
              <a:tabLst/>
              <a:defRPr sz="1800" b="0" i="0" u="none" strike="noStrike" kern="0" cap="none" spc="0" baseline="0">
                <a:solidFill>
                  <a:srgbClr val="000000"/>
                </a:solidFill>
                <a:uFillTx/>
              </a:defRPr>
            </a:pPr>
            <a:r>
              <a:rPr lang="en-US" sz="1600" b="0" i="0" u="none" strike="noStrike" kern="0" cap="none" spc="60" baseline="0" dirty="0">
                <a:solidFill>
                  <a:srgbClr val="000000"/>
                </a:solidFill>
                <a:uFillTx/>
                <a:latin typeface="Times New Roman" panose="02020603050405020304" pitchFamily="18" charset="0"/>
                <a:cs typeface="Times New Roman" panose="02020603050405020304" pitchFamily="18" charset="0"/>
              </a:rPr>
              <a:t>DEPARTMENT OF COMPUTER SCIENCE AND ENGINEERING  </a:t>
            </a:r>
            <a:r>
              <a:rPr lang="en-US" sz="1600" b="0" i="0" u="none" strike="noStrike" kern="0" cap="none" spc="114" baseline="0" dirty="0">
                <a:solidFill>
                  <a:srgbClr val="343D49"/>
                </a:solidFill>
                <a:uFillTx/>
                <a:latin typeface="Times New Roman" panose="02020603050405020304" pitchFamily="18" charset="0"/>
                <a:cs typeface="Times New Roman" panose="02020603050405020304" pitchFamily="18" charset="0"/>
              </a:rPr>
              <a:t> </a:t>
            </a:r>
            <a:endParaRPr lang="en-US" sz="1600" b="0" i="0" u="none" strike="noStrike" kern="0" cap="none" spc="-25" baseline="0" dirty="0">
              <a:solidFill>
                <a:srgbClr val="343D49"/>
              </a:solidFill>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94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AD436-6907-A0D1-F782-5FD58CBA375C}"/>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AECC7259-82BA-5386-49F1-2E8CCFE53F2A}"/>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63526CD2-54B6-107B-BBCF-6FE2BBB9CEA2}"/>
              </a:ext>
            </a:extLst>
          </p:cNvPr>
          <p:cNvSpPr txBox="1"/>
          <p:nvPr/>
        </p:nvSpPr>
        <p:spPr>
          <a:xfrm>
            <a:off x="7663543" y="311613"/>
            <a:ext cx="3423154"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0C7973BE-F582-5163-83B1-B758DC8BE000}"/>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5B4DA6AF-BFCA-D6A7-D800-250E1B6EA069}"/>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1F73C56-8D20-7235-9E68-09C0B1A6B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7531C1AA-47B9-88D9-4217-06C8AB93B7AE}"/>
              </a:ext>
            </a:extLst>
          </p:cNvPr>
          <p:cNvGrpSpPr/>
          <p:nvPr/>
        </p:nvGrpSpPr>
        <p:grpSpPr>
          <a:xfrm>
            <a:off x="645764" y="1417600"/>
            <a:ext cx="3513901" cy="498286"/>
            <a:chOff x="234724" y="1417600"/>
            <a:chExt cx="3513901" cy="498286"/>
          </a:xfrm>
        </p:grpSpPr>
        <p:pic>
          <p:nvPicPr>
            <p:cNvPr id="3" name="object 3">
              <a:extLst>
                <a:ext uri="{FF2B5EF4-FFF2-40B4-BE49-F238E27FC236}">
                  <a16:creationId xmlns:a16="http://schemas.microsoft.com/office/drawing/2014/main" id="{976137E3-8816-3CC9-9E44-0BFD8F1C3A54}"/>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AA08AE3B-7809-3540-FBC8-689451EB9138}"/>
                </a:ext>
              </a:extLst>
            </p:cNvPr>
            <p:cNvSpPr txBox="1"/>
            <p:nvPr/>
          </p:nvSpPr>
          <p:spPr>
            <a:xfrm>
              <a:off x="569573" y="1474705"/>
              <a:ext cx="3179052"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i="0" u="none" strike="noStrike" kern="0" cap="none" spc="260" baseline="0" dirty="0">
                  <a:solidFill>
                    <a:srgbClr val="1D3DAA"/>
                  </a:solidFill>
                  <a:uFillTx/>
                  <a:latin typeface="Times New Roman" panose="02020603050405020304" pitchFamily="18" charset="0"/>
                  <a:cs typeface="Times New Roman" panose="02020603050405020304" pitchFamily="18" charset="0"/>
                </a:rPr>
                <a:t>INTRODUCTION</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9E32D12D-82AC-14A7-0A47-428D30E9A100}"/>
              </a:ext>
            </a:extLst>
          </p:cNvPr>
          <p:cNvSpPr txBox="1"/>
          <p:nvPr/>
        </p:nvSpPr>
        <p:spPr>
          <a:xfrm>
            <a:off x="645764" y="2075543"/>
            <a:ext cx="10951150" cy="4191981"/>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Government Welfare Advisory System is a modern web-based application developed to simplify the process of accessing government welfare schemes and benefits. Governments provide numerous welfare programs for students, farmers, senior citizens, women, unemployed individuals, and economically weaker sections of society. </a:t>
            </a:r>
          </a:p>
          <a:p>
            <a:pPr algn="just">
              <a:lnSpc>
                <a:spcPct val="150000"/>
              </a:lnSpc>
            </a:pPr>
            <a:r>
              <a:rPr lang="en-US" sz="2000" dirty="0">
                <a:latin typeface="Times New Roman" panose="02020603050405020304" pitchFamily="18" charset="0"/>
                <a:cs typeface="Times New Roman" panose="02020603050405020304" pitchFamily="18" charset="0"/>
              </a:rPr>
              <a:t>	This project aims to create a centralized digital platform where users can easily discover welfare schemes that match their personal and economic background. By entering details such as age, income, occupation, education, gender, and category, users can receive personalized scheme recommendations. The system also allows users to apply for schemes online, upload required documents, and track the status of their applications.</a:t>
            </a:r>
          </a:p>
        </p:txBody>
      </p:sp>
    </p:spTree>
    <p:extLst>
      <p:ext uri="{BB962C8B-B14F-4D97-AF65-F5344CB8AC3E}">
        <p14:creationId xmlns:p14="http://schemas.microsoft.com/office/powerpoint/2010/main" val="2653648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FEB1-27C1-D939-2FE8-F7443F811EDD}"/>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9C35765A-5BD1-7392-8D35-A05072AB61F4}"/>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cxnSp>
        <p:nvCxnSpPr>
          <p:cNvPr id="6" name="Straight Connector 5">
            <a:extLst>
              <a:ext uri="{FF2B5EF4-FFF2-40B4-BE49-F238E27FC236}">
                <a16:creationId xmlns:a16="http://schemas.microsoft.com/office/drawing/2014/main" id="{A18F6CFE-7CE5-5BF8-F48B-925D73E0F34B}"/>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2C5F4B4B-F5C5-638D-1B5D-E36F5D0F67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BB3DC472-250A-39C7-EB58-9FA5961F55E1}"/>
              </a:ext>
            </a:extLst>
          </p:cNvPr>
          <p:cNvGrpSpPr/>
          <p:nvPr/>
        </p:nvGrpSpPr>
        <p:grpSpPr>
          <a:xfrm>
            <a:off x="645764" y="1417600"/>
            <a:ext cx="4477779" cy="498286"/>
            <a:chOff x="234724" y="1417600"/>
            <a:chExt cx="4477779" cy="498286"/>
          </a:xfrm>
        </p:grpSpPr>
        <p:pic>
          <p:nvPicPr>
            <p:cNvPr id="3" name="object 3">
              <a:extLst>
                <a:ext uri="{FF2B5EF4-FFF2-40B4-BE49-F238E27FC236}">
                  <a16:creationId xmlns:a16="http://schemas.microsoft.com/office/drawing/2014/main" id="{6C49F75E-9DB1-E060-E895-22F77F0FC2CE}"/>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C3561B71-0914-B9F0-8B07-7BDECEC257F8}"/>
                </a:ext>
              </a:extLst>
            </p:cNvPr>
            <p:cNvSpPr txBox="1"/>
            <p:nvPr/>
          </p:nvSpPr>
          <p:spPr>
            <a:xfrm>
              <a:off x="569573" y="1474705"/>
              <a:ext cx="4142930"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Arial"/>
                  <a:cs typeface="Arial"/>
                </a:rPr>
                <a:t>PROBLEM STATEMENT</a:t>
              </a:r>
              <a:endParaRPr lang="en-IN" sz="2400" b="0" i="0" u="none" strike="noStrike" kern="0" cap="none" spc="0" baseline="0" dirty="0">
                <a:solidFill>
                  <a:srgbClr val="000000"/>
                </a:solidFill>
                <a:uFillTx/>
                <a:latin typeface="Arial"/>
                <a:cs typeface="Arial"/>
              </a:endParaRPr>
            </a:p>
          </p:txBody>
        </p:sp>
      </p:grpSp>
      <p:sp>
        <p:nvSpPr>
          <p:cNvPr id="10" name="TextBox 9">
            <a:extLst>
              <a:ext uri="{FF2B5EF4-FFF2-40B4-BE49-F238E27FC236}">
                <a16:creationId xmlns:a16="http://schemas.microsoft.com/office/drawing/2014/main" id="{B67BDFCD-EFD8-1F20-5D57-D6A45DA17831}"/>
              </a:ext>
            </a:extLst>
          </p:cNvPr>
          <p:cNvSpPr txBox="1"/>
          <p:nvPr/>
        </p:nvSpPr>
        <p:spPr>
          <a:xfrm>
            <a:off x="645764" y="2075543"/>
            <a:ext cx="10951150" cy="4191981"/>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Citizens face difficulty in:</a:t>
            </a:r>
          </a:p>
          <a:p>
            <a:pPr marL="914400" lvl="1"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Identifying relevant welfare schemes</a:t>
            </a:r>
          </a:p>
          <a:p>
            <a:pPr marL="914400" lvl="1"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Understanding eligibility criteria</a:t>
            </a:r>
          </a:p>
          <a:p>
            <a:pPr marL="914400" lvl="1"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Accessing accurate and updated information</a:t>
            </a:r>
          </a:p>
          <a:p>
            <a:pPr algn="just">
              <a:lnSpc>
                <a:spcPct val="150000"/>
              </a:lnSpc>
            </a:pPr>
            <a:r>
              <a:rPr lang="en-US" sz="2000" dirty="0">
                <a:latin typeface="Times New Roman" panose="02020603050405020304" pitchFamily="18" charset="0"/>
                <a:cs typeface="Times New Roman" panose="02020603050405020304" pitchFamily="18" charset="0"/>
              </a:rPr>
              <a:t>Manual searching is:</a:t>
            </a:r>
          </a:p>
          <a:p>
            <a:pPr marL="914400" lvl="1"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Time-consuming</a:t>
            </a:r>
          </a:p>
          <a:p>
            <a:pPr marL="914400" lvl="1"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Confusing</a:t>
            </a:r>
          </a:p>
          <a:p>
            <a:pPr marL="914400" lvl="1"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Error-prone</a:t>
            </a:r>
          </a:p>
          <a:p>
            <a:pPr algn="just">
              <a:lnSpc>
                <a:spcPct val="150000"/>
              </a:lnSpc>
            </a:pPr>
            <a:r>
              <a:rPr lang="en-US" sz="2000" dirty="0">
                <a:latin typeface="Times New Roman" panose="02020603050405020304" pitchFamily="18" charset="0"/>
                <a:cs typeface="Times New Roman" panose="02020603050405020304" pitchFamily="18" charset="0"/>
              </a:rPr>
              <a:t>Lack of a personalized recommendation system for welfare schemes.</a:t>
            </a:r>
          </a:p>
        </p:txBody>
      </p:sp>
      <p:sp>
        <p:nvSpPr>
          <p:cNvPr id="11" name="TextBox 10">
            <a:extLst>
              <a:ext uri="{FF2B5EF4-FFF2-40B4-BE49-F238E27FC236}">
                <a16:creationId xmlns:a16="http://schemas.microsoft.com/office/drawing/2014/main" id="{110912AD-6E0F-F745-40FA-ACCB9C84F41B}"/>
              </a:ext>
            </a:extLst>
          </p:cNvPr>
          <p:cNvSpPr txBox="1"/>
          <p:nvPr/>
        </p:nvSpPr>
        <p:spPr>
          <a:xfrm>
            <a:off x="7779657" y="311613"/>
            <a:ext cx="3307040" cy="646331"/>
          </a:xfrm>
          <a:prstGeom prst="rect">
            <a:avLst/>
          </a:prstGeom>
          <a:noFill/>
        </p:spPr>
        <p:txBody>
          <a:bodyPr wrap="square" rtlCol="0">
            <a:spAutoFit/>
          </a:bodyPr>
          <a:lstStyle/>
          <a:p>
            <a:pPr algn="r"/>
            <a:r>
              <a:rPr lang="en-US" dirty="0">
                <a:solidFill>
                  <a:srgbClr val="002060"/>
                </a:solidFill>
                <a:latin typeface="Times New Roman" panose="02020603050405020304" pitchFamily="18" charset="0"/>
                <a:cs typeface="Times New Roman" panose="02020603050405020304" pitchFamily="18" charset="0"/>
              </a:rPr>
              <a:t>GOVERNMENT COLLEGE OF ENGINEERING, ERODE</a:t>
            </a:r>
            <a:endParaRPr lang="en-IN" dirty="0">
              <a:solidFill>
                <a:srgbClr val="00206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C201E94-CD25-E430-D1D5-BC4DF0A457B2}"/>
              </a:ext>
            </a:extLst>
          </p:cNvPr>
          <p:cNvSpPr txBox="1"/>
          <p:nvPr/>
        </p:nvSpPr>
        <p:spPr>
          <a:xfrm>
            <a:off x="1308505" y="297098"/>
            <a:ext cx="2523268" cy="646331"/>
          </a:xfrm>
          <a:prstGeom prst="rect">
            <a:avLst/>
          </a:prstGeom>
          <a:noFill/>
        </p:spPr>
        <p:txBody>
          <a:bodyPr wrap="square" rtlCol="0">
            <a:spAutoFit/>
          </a:bodyPr>
          <a:lstStyle/>
          <a:p>
            <a:r>
              <a:rPr lang="en-US" dirty="0">
                <a:solidFill>
                  <a:srgbClr val="002060"/>
                </a:solidFill>
                <a:latin typeface="Times New Roman" panose="02020603050405020304" pitchFamily="18" charset="0"/>
                <a:cs typeface="Times New Roman" panose="02020603050405020304" pitchFamily="18" charset="0"/>
              </a:rPr>
              <a:t>ANNA UNIVERSITY</a:t>
            </a:r>
          </a:p>
          <a:p>
            <a:r>
              <a:rPr lang="en-US" dirty="0">
                <a:solidFill>
                  <a:srgbClr val="002060"/>
                </a:solidFill>
                <a:latin typeface="Times New Roman" panose="02020603050405020304" pitchFamily="18" charset="0"/>
                <a:cs typeface="Times New Roman" panose="02020603050405020304" pitchFamily="18" charset="0"/>
              </a:rPr>
              <a:t>CHENNAI</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687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97A41-2770-37C7-2B3B-765BB5EAA40D}"/>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EB45BBAC-75B1-0D95-403F-E663D2C6C2B3}"/>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D646BB99-C8C1-5E06-72B5-A20CCDBF2772}"/>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F1CCECE4-8FF0-EA8F-6C7D-4B5373076670}"/>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0C39F80E-89DF-E233-CE10-88173021DD14}"/>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03F7641-660B-F8E6-8A89-AAA4F6F73E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268B0981-57D1-51E1-9620-A4A06F7D8AA8}"/>
              </a:ext>
            </a:extLst>
          </p:cNvPr>
          <p:cNvGrpSpPr/>
          <p:nvPr/>
        </p:nvGrpSpPr>
        <p:grpSpPr>
          <a:xfrm>
            <a:off x="645764" y="1417600"/>
            <a:ext cx="4477779" cy="498286"/>
            <a:chOff x="234724" y="1417600"/>
            <a:chExt cx="4477779" cy="498286"/>
          </a:xfrm>
        </p:grpSpPr>
        <p:pic>
          <p:nvPicPr>
            <p:cNvPr id="3" name="object 3">
              <a:extLst>
                <a:ext uri="{FF2B5EF4-FFF2-40B4-BE49-F238E27FC236}">
                  <a16:creationId xmlns:a16="http://schemas.microsoft.com/office/drawing/2014/main" id="{58663AC5-61AE-453C-DC53-10C92911D8B8}"/>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9538E9FC-789E-6707-1C46-307815DE83BB}"/>
                </a:ext>
              </a:extLst>
            </p:cNvPr>
            <p:cNvSpPr txBox="1"/>
            <p:nvPr/>
          </p:nvSpPr>
          <p:spPr>
            <a:xfrm>
              <a:off x="569573" y="1474705"/>
              <a:ext cx="4142930"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i="0" u="none" strike="noStrike" kern="0" cap="none" spc="260" baseline="0" dirty="0">
                  <a:solidFill>
                    <a:srgbClr val="1D3DAA"/>
                  </a:solidFill>
                  <a:uFillTx/>
                  <a:latin typeface="Times New Roman" panose="02020603050405020304" pitchFamily="18" charset="0"/>
                  <a:cs typeface="Times New Roman" panose="02020603050405020304" pitchFamily="18" charset="0"/>
                </a:rPr>
                <a:t>OBJECTIVES</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F8952627-CA86-B8A0-E0FF-692507FE2AEF}"/>
              </a:ext>
            </a:extLst>
          </p:cNvPr>
          <p:cNvSpPr txBox="1"/>
          <p:nvPr/>
        </p:nvSpPr>
        <p:spPr>
          <a:xfrm>
            <a:off x="645764" y="2075543"/>
            <a:ext cx="10951150" cy="3691844"/>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develop a centralized platform for accessing government welfare schemes.</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recommend suitable schemes based on user eligibility and personal details.</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simplify the application and document submission process.</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provide real-time application status tracking for users.</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improve transparency, accessibility, and efficiency in welfare scheme management.</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reduce manual work and increase awareness among citizens about government benefits.</a:t>
            </a:r>
          </a:p>
        </p:txBody>
      </p:sp>
    </p:spTree>
    <p:extLst>
      <p:ext uri="{BB962C8B-B14F-4D97-AF65-F5344CB8AC3E}">
        <p14:creationId xmlns:p14="http://schemas.microsoft.com/office/powerpoint/2010/main" val="2578958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7B8A-347D-C587-3637-2CC806CB508E}"/>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5AE8AFB4-B015-4995-2BC1-5728512B4512}"/>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02ED01C6-9F09-40A9-0F48-5AE005259EC5}"/>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5995CEA-C5D4-684A-E0D1-C2CA3C6431DF}"/>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8EBC7341-9FF3-4E43-566D-205EBA2D27B0}"/>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38E0E3D-809E-F8B7-A357-1EAF4DF9C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55656CBD-BA44-A788-F2F1-02C3294AD9AF}"/>
              </a:ext>
            </a:extLst>
          </p:cNvPr>
          <p:cNvGrpSpPr/>
          <p:nvPr/>
        </p:nvGrpSpPr>
        <p:grpSpPr>
          <a:xfrm>
            <a:off x="645764" y="1417600"/>
            <a:ext cx="4477779" cy="498286"/>
            <a:chOff x="234724" y="1417600"/>
            <a:chExt cx="4477779" cy="498286"/>
          </a:xfrm>
        </p:grpSpPr>
        <p:pic>
          <p:nvPicPr>
            <p:cNvPr id="3" name="object 3">
              <a:extLst>
                <a:ext uri="{FF2B5EF4-FFF2-40B4-BE49-F238E27FC236}">
                  <a16:creationId xmlns:a16="http://schemas.microsoft.com/office/drawing/2014/main" id="{CC5CCFC6-73BE-711E-DA3C-B8A8554AF4B5}"/>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27662FFB-5B96-C543-7EF9-7A2CEE5AD17B}"/>
                </a:ext>
              </a:extLst>
            </p:cNvPr>
            <p:cNvSpPr txBox="1"/>
            <p:nvPr/>
          </p:nvSpPr>
          <p:spPr>
            <a:xfrm>
              <a:off x="569573" y="1474705"/>
              <a:ext cx="4142930"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i="0" u="none" strike="noStrike" kern="0" cap="none" spc="260" baseline="0" dirty="0">
                  <a:solidFill>
                    <a:srgbClr val="1D3DAA"/>
                  </a:solidFill>
                  <a:uFillTx/>
                  <a:latin typeface="Times New Roman" panose="02020603050405020304" pitchFamily="18" charset="0"/>
                  <a:cs typeface="Times New Roman" panose="02020603050405020304" pitchFamily="18" charset="0"/>
                </a:rPr>
                <a:t>EXISTING SYSTEM</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EA611DB3-E551-B3F8-9A9A-3F9DA118CBCC}"/>
              </a:ext>
            </a:extLst>
          </p:cNvPr>
          <p:cNvSpPr txBox="1"/>
          <p:nvPr/>
        </p:nvSpPr>
        <p:spPr>
          <a:xfrm>
            <a:off x="620425" y="1935049"/>
            <a:ext cx="10951150" cy="4345870"/>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Currently, government welfare schemes are managed through separate government portals and offline offices. Citizens search for scheme information through official websites, e-</a:t>
            </a:r>
            <a:r>
              <a:rPr lang="en-US" sz="2000" dirty="0" err="1">
                <a:latin typeface="Times New Roman" panose="02020603050405020304" pitchFamily="18" charset="0"/>
                <a:cs typeface="Times New Roman" panose="02020603050405020304" pitchFamily="18" charset="0"/>
              </a:rPr>
              <a:t>Sevai</a:t>
            </a:r>
            <a:r>
              <a:rPr lang="en-US" sz="2000" dirty="0">
                <a:latin typeface="Times New Roman" panose="02020603050405020304" pitchFamily="18" charset="0"/>
                <a:cs typeface="Times New Roman" panose="02020603050405020304" pitchFamily="18" charset="0"/>
              </a:rPr>
              <a:t> centers, or government departments. Users must manually check eligibility criteria, fill application forms, submit documents, and visit offices for verification and status updates.</a:t>
            </a:r>
          </a:p>
          <a:p>
            <a:pPr algn="just">
              <a:lnSpc>
                <a:spcPct val="200000"/>
              </a:lnSpc>
            </a:pPr>
            <a:r>
              <a:rPr lang="en-US" sz="2000" b="1" dirty="0">
                <a:latin typeface="Times New Roman" panose="02020603050405020304" pitchFamily="18" charset="0"/>
                <a:cs typeface="Times New Roman" panose="02020603050405020304" pitchFamily="18" charset="0"/>
              </a:rPr>
              <a:t>Limitations of Existing System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Information is distributed across multiple websites and departments.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personalized scheme recommendation system.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awareness among rural and less digitally skilled citizens.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Difficulty in tracking application status and updates efficiently.</a:t>
            </a:r>
          </a:p>
        </p:txBody>
      </p:sp>
    </p:spTree>
    <p:extLst>
      <p:ext uri="{BB962C8B-B14F-4D97-AF65-F5344CB8AC3E}">
        <p14:creationId xmlns:p14="http://schemas.microsoft.com/office/powerpoint/2010/main" val="3882129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AB532-A8B3-730D-1A52-0FD976AF870B}"/>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A3757EB2-2275-52EB-A652-27EB96852828}"/>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13C13501-F671-1DD8-1C28-8171CD0D4D27}"/>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512F4ACD-C588-2774-38D4-53AF8AB70725}"/>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23B4F909-9969-A432-8AF6-D70AD107DAC4}"/>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3C181B3-0E67-D537-8645-1F88108D13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08B3431D-D2A0-8366-A6DD-D5517E944579}"/>
              </a:ext>
            </a:extLst>
          </p:cNvPr>
          <p:cNvGrpSpPr/>
          <p:nvPr/>
        </p:nvGrpSpPr>
        <p:grpSpPr>
          <a:xfrm>
            <a:off x="645764" y="1417600"/>
            <a:ext cx="4477779" cy="498286"/>
            <a:chOff x="234724" y="1417600"/>
            <a:chExt cx="4477779" cy="498286"/>
          </a:xfrm>
        </p:grpSpPr>
        <p:pic>
          <p:nvPicPr>
            <p:cNvPr id="3" name="object 3">
              <a:extLst>
                <a:ext uri="{FF2B5EF4-FFF2-40B4-BE49-F238E27FC236}">
                  <a16:creationId xmlns:a16="http://schemas.microsoft.com/office/drawing/2014/main" id="{83F9945E-AB4F-3ED1-8DCB-875AB89D9ADB}"/>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378F1DE2-F1FB-A742-62E9-1C48EB12AB22}"/>
                </a:ext>
              </a:extLst>
            </p:cNvPr>
            <p:cNvSpPr txBox="1"/>
            <p:nvPr/>
          </p:nvSpPr>
          <p:spPr>
            <a:xfrm>
              <a:off x="569573" y="1474705"/>
              <a:ext cx="4142930"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PROPOSED SOLUTION</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615D80A1-6B8B-2736-A408-05FBE0876601}"/>
              </a:ext>
            </a:extLst>
          </p:cNvPr>
          <p:cNvSpPr txBox="1"/>
          <p:nvPr/>
        </p:nvSpPr>
        <p:spPr>
          <a:xfrm>
            <a:off x="645764" y="2075543"/>
            <a:ext cx="10951150" cy="3730317"/>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proposed Government Welfare Advisory System provides a centralized web-based platform that helps citizens easily identify and access suitable government welfare schemes. The system collects user details such as age, income, education, occupation, and category to recommend eligible schemes automatically.</a:t>
            </a:r>
          </a:p>
          <a:p>
            <a:pPr algn="just">
              <a:lnSpc>
                <a:spcPct val="150000"/>
              </a:lnSpc>
            </a:pPr>
            <a:r>
              <a:rPr lang="en-US" sz="2000" dirty="0">
                <a:latin typeface="Times New Roman" panose="02020603050405020304" pitchFamily="18" charset="0"/>
                <a:cs typeface="Times New Roman" panose="02020603050405020304" pitchFamily="18" charset="0"/>
              </a:rPr>
              <a:t>	Users can view scheme details, apply online, upload required documents, and track application status in real time. Administrators can manage schemes, verify applications, and update records efficiently. The system improves transparency, reduces manual work, and simplifies the welfare scheme application process for citizens.</a:t>
            </a:r>
          </a:p>
        </p:txBody>
      </p:sp>
    </p:spTree>
    <p:extLst>
      <p:ext uri="{BB962C8B-B14F-4D97-AF65-F5344CB8AC3E}">
        <p14:creationId xmlns:p14="http://schemas.microsoft.com/office/powerpoint/2010/main" val="3910362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51CD0-A472-524F-C3C7-612570C0759E}"/>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9BE8650F-34C1-9C75-27C4-C1AE3D8A4A06}"/>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BD1515D9-7D40-922E-FD7B-2F628446F5B7}"/>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05F75044-464F-C6A4-29DD-77A69954DA4B}"/>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14C0A318-A7ED-E61B-F9D8-9D97039657CA}"/>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2E48D67-DD61-FBDD-518C-21D1A4B95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7A33939E-6E2B-D7DB-E36E-9ED2451194C6}"/>
              </a:ext>
            </a:extLst>
          </p:cNvPr>
          <p:cNvGrpSpPr/>
          <p:nvPr/>
        </p:nvGrpSpPr>
        <p:grpSpPr>
          <a:xfrm>
            <a:off x="645764" y="1417600"/>
            <a:ext cx="5000293" cy="498286"/>
            <a:chOff x="234724" y="1417600"/>
            <a:chExt cx="5000293" cy="498286"/>
          </a:xfrm>
        </p:grpSpPr>
        <p:pic>
          <p:nvPicPr>
            <p:cNvPr id="3" name="object 3">
              <a:extLst>
                <a:ext uri="{FF2B5EF4-FFF2-40B4-BE49-F238E27FC236}">
                  <a16:creationId xmlns:a16="http://schemas.microsoft.com/office/drawing/2014/main" id="{A409D2A9-8F98-C31F-087B-D958C8A03DDE}"/>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7EACFE93-9DA5-E052-6C71-9BBC491CC665}"/>
                </a:ext>
              </a:extLst>
            </p:cNvPr>
            <p:cNvSpPr txBox="1"/>
            <p:nvPr/>
          </p:nvSpPr>
          <p:spPr>
            <a:xfrm>
              <a:off x="569573" y="1474705"/>
              <a:ext cx="4665444"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SYSTEM ARCHITETURE</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94EC23B8-D4D1-790F-ADDF-BEC16FB5AB4E}"/>
              </a:ext>
            </a:extLst>
          </p:cNvPr>
          <p:cNvSpPr txBox="1"/>
          <p:nvPr/>
        </p:nvSpPr>
        <p:spPr>
          <a:xfrm>
            <a:off x="645764" y="2075543"/>
            <a:ext cx="10951150" cy="960328"/>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Government Welfare Advisory System follows a three-tier architecture consisting of the Frontend, Backend, and Database layers.</a:t>
            </a:r>
          </a:p>
        </p:txBody>
      </p:sp>
      <p:sp>
        <p:nvSpPr>
          <p:cNvPr id="11" name="TextBox 10">
            <a:extLst>
              <a:ext uri="{FF2B5EF4-FFF2-40B4-BE49-F238E27FC236}">
                <a16:creationId xmlns:a16="http://schemas.microsoft.com/office/drawing/2014/main" id="{89D9E24E-C259-2DB5-4C40-3E9A9C8F6EC7}"/>
              </a:ext>
            </a:extLst>
          </p:cNvPr>
          <p:cNvSpPr txBox="1"/>
          <p:nvPr/>
        </p:nvSpPr>
        <p:spPr>
          <a:xfrm>
            <a:off x="731054" y="3281661"/>
            <a:ext cx="10951150" cy="2806987"/>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Frontend (React.js): Provides the user interface for registration, login, scheme recommendation, application submission, and status tracking.</a:t>
            </a:r>
          </a:p>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Backend (Spring Boot): Handles business logic, user authentication, scheme management, application processing, and REST API communication.</a:t>
            </a:r>
          </a:p>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Database (MySQL): Stores user details, welfare schemes, applications, uploaded documents, and status information securely.</a:t>
            </a:r>
          </a:p>
        </p:txBody>
      </p:sp>
    </p:spTree>
    <p:extLst>
      <p:ext uri="{BB962C8B-B14F-4D97-AF65-F5344CB8AC3E}">
        <p14:creationId xmlns:p14="http://schemas.microsoft.com/office/powerpoint/2010/main" val="100951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D28E-0D3D-EB4D-2A52-F90474206F42}"/>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9B4EBECA-953F-AB73-FD9F-91DE1D79E6B4}"/>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15AEF289-7745-C967-18B2-E011BF5DCA64}"/>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E62379D3-6899-767D-6C3C-F051720DBF0F}"/>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0CCB1343-7894-E914-BDF6-890CD053E674}"/>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F8ECC0E-5289-B7C8-76B6-4F860CEC0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5EB38C8E-3CDC-7BFE-CFFD-736EC41CC3F3}"/>
              </a:ext>
            </a:extLst>
          </p:cNvPr>
          <p:cNvGrpSpPr/>
          <p:nvPr/>
        </p:nvGrpSpPr>
        <p:grpSpPr>
          <a:xfrm>
            <a:off x="645764" y="1417600"/>
            <a:ext cx="5000293" cy="498286"/>
            <a:chOff x="234724" y="1417600"/>
            <a:chExt cx="5000293" cy="498286"/>
          </a:xfrm>
        </p:grpSpPr>
        <p:pic>
          <p:nvPicPr>
            <p:cNvPr id="3" name="object 3">
              <a:extLst>
                <a:ext uri="{FF2B5EF4-FFF2-40B4-BE49-F238E27FC236}">
                  <a16:creationId xmlns:a16="http://schemas.microsoft.com/office/drawing/2014/main" id="{9BE55161-1CE7-4F28-9054-15536A518AC1}"/>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D9E36491-597B-C9E0-FEFE-EA78CFC285C6}"/>
                </a:ext>
              </a:extLst>
            </p:cNvPr>
            <p:cNvSpPr txBox="1"/>
            <p:nvPr/>
          </p:nvSpPr>
          <p:spPr>
            <a:xfrm>
              <a:off x="569573" y="1474705"/>
              <a:ext cx="4665444"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SYSTEM ARCHITETURE</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4B94563F-66FB-3BFC-4CDE-CC782D9D9D9D}"/>
              </a:ext>
            </a:extLst>
          </p:cNvPr>
          <p:cNvSpPr txBox="1"/>
          <p:nvPr/>
        </p:nvSpPr>
        <p:spPr>
          <a:xfrm>
            <a:off x="731054" y="5124395"/>
            <a:ext cx="10951150" cy="1421992"/>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frontend communicates with the backend through REST APIs, and the backend interacts with the MySQL database for data storage and retrieval. The system includes separate modules for users and administrators to ensure secure and efficient management.</a:t>
            </a:r>
          </a:p>
        </p:txBody>
      </p:sp>
      <p:pic>
        <p:nvPicPr>
          <p:cNvPr id="13" name="Picture 12">
            <a:extLst>
              <a:ext uri="{FF2B5EF4-FFF2-40B4-BE49-F238E27FC236}">
                <a16:creationId xmlns:a16="http://schemas.microsoft.com/office/drawing/2014/main" id="{0264EB3B-B749-A653-5DE6-AE4E162092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6295" y="2048727"/>
            <a:ext cx="5319409" cy="2901496"/>
          </a:xfrm>
          <a:prstGeom prst="rect">
            <a:avLst/>
          </a:prstGeom>
        </p:spPr>
      </p:pic>
    </p:spTree>
    <p:extLst>
      <p:ext uri="{BB962C8B-B14F-4D97-AF65-F5344CB8AC3E}">
        <p14:creationId xmlns:p14="http://schemas.microsoft.com/office/powerpoint/2010/main" val="51220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49C7E-7287-6F8F-8589-B7B5D2B8A40A}"/>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45B81D56-261D-540C-E9B8-3ACE8EED106B}"/>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2CAD2F8A-A64F-6D1F-8C2D-4A843BD92C4F}"/>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0F44CE5C-1FDD-E241-ED0F-BA7646E3B5F3}"/>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065E920F-E2B7-DEE9-CDEA-8A19B973727D}"/>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FBE3146-FC90-AC65-3A39-DD9851F35B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F78FFA05-BD61-5D46-5BFB-78D523F097E8}"/>
              </a:ext>
            </a:extLst>
          </p:cNvPr>
          <p:cNvGrpSpPr/>
          <p:nvPr/>
        </p:nvGrpSpPr>
        <p:grpSpPr>
          <a:xfrm>
            <a:off x="645764" y="1417600"/>
            <a:ext cx="4477779" cy="498286"/>
            <a:chOff x="234724" y="1417600"/>
            <a:chExt cx="4477779" cy="498286"/>
          </a:xfrm>
        </p:grpSpPr>
        <p:pic>
          <p:nvPicPr>
            <p:cNvPr id="3" name="object 3">
              <a:extLst>
                <a:ext uri="{FF2B5EF4-FFF2-40B4-BE49-F238E27FC236}">
                  <a16:creationId xmlns:a16="http://schemas.microsoft.com/office/drawing/2014/main" id="{4555907D-54FF-FD63-3D6D-74DB7605EEB6}"/>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1DC10D70-5F15-894C-F9B9-9A2C5023B330}"/>
                </a:ext>
              </a:extLst>
            </p:cNvPr>
            <p:cNvSpPr txBox="1"/>
            <p:nvPr/>
          </p:nvSpPr>
          <p:spPr>
            <a:xfrm>
              <a:off x="569573" y="1474705"/>
              <a:ext cx="4142930"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TECHNOLOGIES USED</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C8370299-3361-BAED-F8D2-ED7F071DB108}"/>
              </a:ext>
            </a:extLst>
          </p:cNvPr>
          <p:cNvSpPr txBox="1"/>
          <p:nvPr/>
        </p:nvSpPr>
        <p:spPr>
          <a:xfrm>
            <a:off x="645764" y="2075543"/>
            <a:ext cx="10951150" cy="3807261"/>
          </a:xfrm>
          <a:prstGeom prst="rect">
            <a:avLst/>
          </a:prstGeom>
          <a:noFill/>
        </p:spPr>
        <p:txBody>
          <a:bodyPr wrap="square" rtlCol="0">
            <a:spAutoFit/>
          </a:bodyPr>
          <a:lstStyle/>
          <a:p>
            <a:pPr marL="342900" indent="-342900" algn="just">
              <a:lnSpc>
                <a:spcPct val="2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Frontend : React.js, HTML, CSS, JavaScript, Tailwind CSS</a:t>
            </a:r>
          </a:p>
          <a:p>
            <a:pPr marL="342900" indent="-342900" algn="just">
              <a:lnSpc>
                <a:spcPct val="2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Backend : Spring Boot, Java</a:t>
            </a:r>
          </a:p>
          <a:p>
            <a:pPr marL="342900" indent="-342900" algn="just">
              <a:lnSpc>
                <a:spcPct val="2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Database : MySQL</a:t>
            </a:r>
          </a:p>
          <a:p>
            <a:pPr marL="342900" indent="-342900" algn="just">
              <a:lnSpc>
                <a:spcPct val="2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APIs : RESTful APIs</a:t>
            </a:r>
          </a:p>
          <a:p>
            <a:pPr marL="342900" indent="-342900" algn="just">
              <a:lnSpc>
                <a:spcPct val="2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Tools Used : Git &amp; GitHub, Postman, VS Code , MySQL Workbench</a:t>
            </a:r>
          </a:p>
        </p:txBody>
      </p:sp>
    </p:spTree>
    <p:extLst>
      <p:ext uri="{BB962C8B-B14F-4D97-AF65-F5344CB8AC3E}">
        <p14:creationId xmlns:p14="http://schemas.microsoft.com/office/powerpoint/2010/main" val="205580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45EFC-A5D5-74A7-199B-689ED2C4859C}"/>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89310C3B-52B5-4111-FDAE-2B54086AEA83}"/>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B391FAFE-AA3A-670E-5A2D-13F1263E4572}"/>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46644CB-F391-A8FF-EBF7-D14B40B1DEBC}"/>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ADD9BA9A-0AF6-9BFD-BD9C-5A482DBB690F}"/>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07BB6C9-31FD-D1E6-6FE1-1D81CCC885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A2027CCB-BEB0-34A1-1621-3B7B25CD8C26}"/>
              </a:ext>
            </a:extLst>
          </p:cNvPr>
          <p:cNvGrpSpPr/>
          <p:nvPr/>
        </p:nvGrpSpPr>
        <p:grpSpPr>
          <a:xfrm>
            <a:off x="645764" y="1417600"/>
            <a:ext cx="4840635" cy="498286"/>
            <a:chOff x="234724" y="1417600"/>
            <a:chExt cx="4840635" cy="498286"/>
          </a:xfrm>
        </p:grpSpPr>
        <p:pic>
          <p:nvPicPr>
            <p:cNvPr id="3" name="object 3">
              <a:extLst>
                <a:ext uri="{FF2B5EF4-FFF2-40B4-BE49-F238E27FC236}">
                  <a16:creationId xmlns:a16="http://schemas.microsoft.com/office/drawing/2014/main" id="{1622834D-A8B6-CCA5-893B-99D09AC1C8A6}"/>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71E5D879-4FB4-7487-D552-642205711BCA}"/>
                </a:ext>
              </a:extLst>
            </p:cNvPr>
            <p:cNvSpPr txBox="1"/>
            <p:nvPr/>
          </p:nvSpPr>
          <p:spPr>
            <a:xfrm>
              <a:off x="569572" y="1474705"/>
              <a:ext cx="4505787"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MODULE DESCRIPTION</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E91F8CD3-F39E-99A8-B4B3-5B955D200C55}"/>
              </a:ext>
            </a:extLst>
          </p:cNvPr>
          <p:cNvSpPr txBox="1"/>
          <p:nvPr/>
        </p:nvSpPr>
        <p:spPr>
          <a:xfrm>
            <a:off x="645764" y="2075543"/>
            <a:ext cx="10951150" cy="3691844"/>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 Module : User registration, login, profile management, and scheme access.</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Scheme Recommendation  Module : Recommends suitable welfare schemes based on user eligibility.</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Application Management Module : Allows users to apply for schemes and upload required documents.</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Application Tracking Module : Enables users to track application status and updates in real time.</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Admin Module : Manages users, welfare schemes, applications, and verification processes.</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Authentication &amp; Security Module : Provides secure login, access control, and data protection.</a:t>
            </a:r>
          </a:p>
        </p:txBody>
      </p:sp>
    </p:spTree>
    <p:extLst>
      <p:ext uri="{BB962C8B-B14F-4D97-AF65-F5344CB8AC3E}">
        <p14:creationId xmlns:p14="http://schemas.microsoft.com/office/powerpoint/2010/main" val="843388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C7107-86D2-8A29-ED54-43E50A07DCB8}"/>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A284837A-89D9-FEDA-A193-EBDEF0EA5C85}"/>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E94A0D4C-0DB3-5E3D-E15D-3491D6CB2687}"/>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C64363F5-9418-7221-F109-34E9A5CF3438}"/>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89103F9A-0948-559C-FDF5-E92B3BD1AEAE}"/>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9FE8BBB-C64F-F4D8-AD3C-CB5043066A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BD8271E3-B7BD-7678-70DD-23FD32F25319}"/>
              </a:ext>
            </a:extLst>
          </p:cNvPr>
          <p:cNvGrpSpPr/>
          <p:nvPr/>
        </p:nvGrpSpPr>
        <p:grpSpPr>
          <a:xfrm>
            <a:off x="645764" y="1417600"/>
            <a:ext cx="4477779" cy="498286"/>
            <a:chOff x="234724" y="1417600"/>
            <a:chExt cx="4477779" cy="498286"/>
          </a:xfrm>
        </p:grpSpPr>
        <p:pic>
          <p:nvPicPr>
            <p:cNvPr id="3" name="object 3">
              <a:extLst>
                <a:ext uri="{FF2B5EF4-FFF2-40B4-BE49-F238E27FC236}">
                  <a16:creationId xmlns:a16="http://schemas.microsoft.com/office/drawing/2014/main" id="{7123E55A-CD58-D40C-899C-B7E4EE6D2F40}"/>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4D345A49-AA90-06BD-BBF7-E39B920C11B8}"/>
                </a:ext>
              </a:extLst>
            </p:cNvPr>
            <p:cNvSpPr txBox="1"/>
            <p:nvPr/>
          </p:nvSpPr>
          <p:spPr>
            <a:xfrm>
              <a:off x="569573" y="1474705"/>
              <a:ext cx="4142930"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WORKFLOW </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D59C879D-88F5-4DD1-283A-635EC27898BF}"/>
              </a:ext>
            </a:extLst>
          </p:cNvPr>
          <p:cNvSpPr txBox="1"/>
          <p:nvPr/>
        </p:nvSpPr>
        <p:spPr>
          <a:xfrm>
            <a:off x="645764" y="2075543"/>
            <a:ext cx="10951150" cy="4191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 Registration and Login</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Enter Personal and Eligibility Details</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System Analyzes User Information</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Suitable Welfare Schemes are Recommended</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 Views Scheme Details and Applies</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Required Documents are Uploaded</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Admin Verifies the Application</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Application Status is Updated</a:t>
            </a:r>
          </a:p>
          <a:p>
            <a:pPr marL="342900" indent="-342900"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 Tracks Application Status in Real Time</a:t>
            </a:r>
          </a:p>
        </p:txBody>
      </p:sp>
      <p:pic>
        <p:nvPicPr>
          <p:cNvPr id="12" name="Picture 11">
            <a:extLst>
              <a:ext uri="{FF2B5EF4-FFF2-40B4-BE49-F238E27FC236}">
                <a16:creationId xmlns:a16="http://schemas.microsoft.com/office/drawing/2014/main" id="{00BDAB51-0755-842C-0D7D-A1499576B2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9643" y="1507362"/>
            <a:ext cx="1953558" cy="5216133"/>
          </a:xfrm>
          <a:prstGeom prst="rect">
            <a:avLst/>
          </a:prstGeom>
        </p:spPr>
      </p:pic>
    </p:spTree>
    <p:extLst>
      <p:ext uri="{BB962C8B-B14F-4D97-AF65-F5344CB8AC3E}">
        <p14:creationId xmlns:p14="http://schemas.microsoft.com/office/powerpoint/2010/main" val="162814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434E-CFD7-E571-5402-2DB77A75FFC9}"/>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30D70666-9210-28D2-29FC-6FBFF0A77B78}"/>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B8DCB0CA-A011-0AAF-A6CD-8FCF2795D444}"/>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9E64781-0E25-33C1-B23A-ECEAD218EEA2}"/>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E9B70954-ABF1-51EA-CF71-84EAF7198928}"/>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ADAC156-C388-F747-B807-D4EDAE9DD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2136597B-67FD-AE71-BE18-3BAE9AB58DEC}"/>
              </a:ext>
            </a:extLst>
          </p:cNvPr>
          <p:cNvGrpSpPr/>
          <p:nvPr/>
        </p:nvGrpSpPr>
        <p:grpSpPr>
          <a:xfrm>
            <a:off x="645764" y="1417600"/>
            <a:ext cx="5450236" cy="498286"/>
            <a:chOff x="234724" y="1417600"/>
            <a:chExt cx="5450236" cy="498286"/>
          </a:xfrm>
        </p:grpSpPr>
        <p:pic>
          <p:nvPicPr>
            <p:cNvPr id="3" name="object 3">
              <a:extLst>
                <a:ext uri="{FF2B5EF4-FFF2-40B4-BE49-F238E27FC236}">
                  <a16:creationId xmlns:a16="http://schemas.microsoft.com/office/drawing/2014/main" id="{D7BE4157-18B0-1AFF-4C69-E86C7539ADB3}"/>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EEB1D006-D7E6-49E8-F3A9-ABE6E5D94736}"/>
                </a:ext>
              </a:extLst>
            </p:cNvPr>
            <p:cNvSpPr txBox="1"/>
            <p:nvPr/>
          </p:nvSpPr>
          <p:spPr>
            <a:xfrm>
              <a:off x="569572" y="1474705"/>
              <a:ext cx="5115388"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ADVANTAGES OF SYSTEM</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5D0212CE-2B1C-45B5-9DA2-0C11E33841F8}"/>
              </a:ext>
            </a:extLst>
          </p:cNvPr>
          <p:cNvSpPr txBox="1"/>
          <p:nvPr/>
        </p:nvSpPr>
        <p:spPr>
          <a:xfrm>
            <a:off x="645764" y="2075543"/>
            <a:ext cx="10951150" cy="4307398"/>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Centralized platform for all welfare scheme information</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Easy identification of eligible government schemes</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Simplifies online application and document submission process</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Real-time application status tracking</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Reduces manual work and processing time</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Increases awareness about government welfare benefits</a:t>
            </a:r>
          </a:p>
          <a:p>
            <a:pPr marL="342900" indent="-342900" algn="just">
              <a:lnSpc>
                <a:spcPct val="20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Secure and user-friendly system for citizens and administrators</a:t>
            </a:r>
          </a:p>
        </p:txBody>
      </p:sp>
    </p:spTree>
    <p:extLst>
      <p:ext uri="{BB962C8B-B14F-4D97-AF65-F5344CB8AC3E}">
        <p14:creationId xmlns:p14="http://schemas.microsoft.com/office/powerpoint/2010/main" val="1209122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A0C0-6419-66F1-8765-EAD18BBDE8E4}"/>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11F9B929-35CD-A05F-61F0-530450AD53DB}"/>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8C313FCC-D32B-B08B-BC35-00FA79977BFF}"/>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CE422A00-A866-2F8A-3E8A-5654D8E6B0C5}"/>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1A86FC4E-98A0-7607-152C-A1350DC67884}"/>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9A120D8-4421-8A7A-5F47-099548B17E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5F673B12-010C-CF59-15C5-978B728899D4}"/>
              </a:ext>
            </a:extLst>
          </p:cNvPr>
          <p:cNvGrpSpPr/>
          <p:nvPr/>
        </p:nvGrpSpPr>
        <p:grpSpPr>
          <a:xfrm>
            <a:off x="645764" y="1417600"/>
            <a:ext cx="4840635" cy="498286"/>
            <a:chOff x="234724" y="1417600"/>
            <a:chExt cx="4840635" cy="498286"/>
          </a:xfrm>
        </p:grpSpPr>
        <p:pic>
          <p:nvPicPr>
            <p:cNvPr id="3" name="object 3">
              <a:extLst>
                <a:ext uri="{FF2B5EF4-FFF2-40B4-BE49-F238E27FC236}">
                  <a16:creationId xmlns:a16="http://schemas.microsoft.com/office/drawing/2014/main" id="{3F01EAFC-7769-9661-EE42-47BF1BF5E3C2}"/>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C0CC3C6B-FDA4-997C-1C18-94ED1AB91D70}"/>
                </a:ext>
              </a:extLst>
            </p:cNvPr>
            <p:cNvSpPr txBox="1"/>
            <p:nvPr/>
          </p:nvSpPr>
          <p:spPr>
            <a:xfrm>
              <a:off x="569572" y="1474705"/>
              <a:ext cx="4505787"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CONCLUSION </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E4029786-52EF-B630-7BEF-13C3FDACE57C}"/>
              </a:ext>
            </a:extLst>
          </p:cNvPr>
          <p:cNvSpPr txBox="1"/>
          <p:nvPr/>
        </p:nvSpPr>
        <p:spPr>
          <a:xfrm>
            <a:off x="645764" y="2075543"/>
            <a:ext cx="10951150" cy="4191981"/>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Government Welfare Advisory System successfully demonstrates how technology can be used to improve public welfare services and enhance citizen accessibility to government schemes. The project addresses major challenges in the existing system by providing a more organized, transparent, and efficient approach to welfare scheme management.</a:t>
            </a:r>
          </a:p>
          <a:p>
            <a:pPr algn="just">
              <a:lnSpc>
                <a:spcPct val="150000"/>
              </a:lnSpc>
            </a:pPr>
            <a:r>
              <a:rPr lang="en-US" sz="2000" dirty="0">
                <a:latin typeface="Times New Roman" panose="02020603050405020304" pitchFamily="18" charset="0"/>
                <a:cs typeface="Times New Roman" panose="02020603050405020304" pitchFamily="18" charset="0"/>
              </a:rPr>
              <a:t>	Through this system, users can easily access scheme information, reduce dependency on manual processes, and save time in searching and applying for benefits. The project also helps administrators manage applications and user data more effectively. The implementation of a centralized platform improves communication between citizens and welfare services while increasing awareness about available government support programs.</a:t>
            </a:r>
          </a:p>
        </p:txBody>
      </p:sp>
    </p:spTree>
    <p:extLst>
      <p:ext uri="{BB962C8B-B14F-4D97-AF65-F5344CB8AC3E}">
        <p14:creationId xmlns:p14="http://schemas.microsoft.com/office/powerpoint/2010/main" val="3575510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9202-7728-2F65-D026-D9132980ED2D}"/>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42662324-E75C-527F-035B-D71B4ADDA2A2}"/>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1D3CD8CD-D99B-5BD7-AF62-850308EEE101}"/>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F158A222-B520-742B-34D0-1C970F7DB341}"/>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1573B852-01FF-2646-16F2-03834F2FC937}"/>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4C901DC-B1BA-ADC6-850E-AEFFA9AACE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grpSp>
        <p:nvGrpSpPr>
          <p:cNvPr id="2" name="Group 1">
            <a:extLst>
              <a:ext uri="{FF2B5EF4-FFF2-40B4-BE49-F238E27FC236}">
                <a16:creationId xmlns:a16="http://schemas.microsoft.com/office/drawing/2014/main" id="{377F8331-5669-C260-4B84-348E35D918BD}"/>
              </a:ext>
            </a:extLst>
          </p:cNvPr>
          <p:cNvGrpSpPr/>
          <p:nvPr/>
        </p:nvGrpSpPr>
        <p:grpSpPr>
          <a:xfrm>
            <a:off x="645764" y="1417600"/>
            <a:ext cx="4840635" cy="498286"/>
            <a:chOff x="234724" y="1417600"/>
            <a:chExt cx="4840635" cy="498286"/>
          </a:xfrm>
        </p:grpSpPr>
        <p:pic>
          <p:nvPicPr>
            <p:cNvPr id="3" name="object 3">
              <a:extLst>
                <a:ext uri="{FF2B5EF4-FFF2-40B4-BE49-F238E27FC236}">
                  <a16:creationId xmlns:a16="http://schemas.microsoft.com/office/drawing/2014/main" id="{80F2FE81-5249-581B-CD53-A490E0FFC09D}"/>
                </a:ext>
              </a:extLst>
            </p:cNvPr>
            <p:cNvPicPr>
              <a:picLocks noChangeAspect="1"/>
            </p:cNvPicPr>
            <p:nvPr/>
          </p:nvPicPr>
          <p:blipFill>
            <a:blip r:embed="rId4"/>
            <a:stretch>
              <a:fillRect/>
            </a:stretch>
          </p:blipFill>
          <p:spPr>
            <a:xfrm>
              <a:off x="234724" y="1417600"/>
              <a:ext cx="170580" cy="498286"/>
            </a:xfrm>
            <a:prstGeom prst="rect">
              <a:avLst/>
            </a:prstGeom>
            <a:noFill/>
            <a:ln cap="flat">
              <a:noFill/>
            </a:ln>
          </p:spPr>
        </p:pic>
        <p:sp>
          <p:nvSpPr>
            <p:cNvPr id="9" name="object 19">
              <a:extLst>
                <a:ext uri="{FF2B5EF4-FFF2-40B4-BE49-F238E27FC236}">
                  <a16:creationId xmlns:a16="http://schemas.microsoft.com/office/drawing/2014/main" id="{6181FFC9-72B4-B45B-5B17-46E301D01B55}"/>
                </a:ext>
              </a:extLst>
            </p:cNvPr>
            <p:cNvSpPr txBox="1"/>
            <p:nvPr/>
          </p:nvSpPr>
          <p:spPr>
            <a:xfrm>
              <a:off x="569572" y="1474705"/>
              <a:ext cx="4505787" cy="384076"/>
            </a:xfrm>
            <a:prstGeom prst="rect">
              <a:avLst/>
            </a:prstGeom>
            <a:noFill/>
            <a:ln cap="flat">
              <a:noFill/>
            </a:ln>
          </p:spPr>
          <p:txBody>
            <a:bodyPr vert="horz" wrap="square" lIns="0" tIns="14602" rIns="0" bIns="0" anchor="t" anchorCtr="0" compatLnSpc="1">
              <a:spAutoFit/>
            </a:bodyPr>
            <a:lstStyle/>
            <a:p>
              <a:pPr marL="12701" marR="0" lvl="0" indent="0" defTabSz="914400" rtl="0" fontAlgn="auto" hangingPunct="1">
                <a:lnSpc>
                  <a:spcPct val="100000"/>
                </a:lnSpc>
                <a:spcBef>
                  <a:spcPts val="115"/>
                </a:spcBef>
                <a:spcAft>
                  <a:spcPts val="0"/>
                </a:spcAft>
                <a:buNone/>
                <a:tabLst/>
                <a:defRPr sz="1800" b="0" i="0" u="none" strike="noStrike" kern="0" cap="none" spc="0" baseline="0">
                  <a:solidFill>
                    <a:srgbClr val="000000"/>
                  </a:solidFill>
                  <a:uFillTx/>
                </a:defRPr>
              </a:pPr>
              <a:r>
                <a:rPr lang="en-US" sz="2400" b="1" kern="0" spc="260" dirty="0">
                  <a:solidFill>
                    <a:srgbClr val="1D3DAA"/>
                  </a:solidFill>
                  <a:latin typeface="Times New Roman" panose="02020603050405020304" pitchFamily="18" charset="0"/>
                  <a:cs typeface="Times New Roman" panose="02020603050405020304" pitchFamily="18" charset="0"/>
                </a:rPr>
                <a:t>REFERENCES</a:t>
              </a:r>
              <a:endParaRPr lang="en-IN" sz="2400" b="0" i="0" u="none" strike="noStrike" kern="0" cap="none" spc="0" baseline="0" dirty="0">
                <a:solidFill>
                  <a:srgbClr val="000000"/>
                </a:solidFill>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511DA0D7-A4AF-E15F-C962-F09C8AB4A546}"/>
              </a:ext>
            </a:extLst>
          </p:cNvPr>
          <p:cNvSpPr txBox="1"/>
          <p:nvPr/>
        </p:nvSpPr>
        <p:spPr>
          <a:xfrm>
            <a:off x="645764" y="2075543"/>
            <a:ext cx="10951150" cy="3691844"/>
          </a:xfrm>
          <a:prstGeom prst="rect">
            <a:avLst/>
          </a:prstGeom>
          <a:noFill/>
        </p:spPr>
        <p:txBody>
          <a:bodyPr wrap="square" rtlCol="0">
            <a:spAutoFit/>
          </a:bodyPr>
          <a:lstStyle/>
          <a:p>
            <a:pPr algn="just">
              <a:lnSpc>
                <a:spcPct val="200000"/>
              </a:lnSpc>
            </a:pPr>
            <a:r>
              <a:rPr lang="en-US" sz="2000" dirty="0">
                <a:latin typeface="Times New Roman" panose="02020603050405020304" pitchFamily="18" charset="0"/>
                <a:cs typeface="Times New Roman" panose="02020603050405020304" pitchFamily="18" charset="0"/>
              </a:rPr>
              <a:t>[1] M. Reddy, S. Rao, and V. Kumar, “Smart Beneficiary Scheme Mapping System Using Machine Learning,” International Journal of Creative Research Thoughts (IJCRT), 2025. </a:t>
            </a:r>
          </a:p>
          <a:p>
            <a:pPr algn="just">
              <a:lnSpc>
                <a:spcPct val="200000"/>
              </a:lnSpc>
            </a:pPr>
            <a:r>
              <a:rPr lang="en-US" sz="2000" dirty="0">
                <a:latin typeface="Times New Roman" panose="02020603050405020304" pitchFamily="18" charset="0"/>
                <a:cs typeface="Times New Roman" panose="02020603050405020304" pitchFamily="18" charset="0"/>
              </a:rPr>
              <a:t>[2] A. Sharma, R. Kumar, and S. Patel, “</a:t>
            </a:r>
            <a:r>
              <a:rPr lang="en-US" sz="2000" dirty="0" err="1">
                <a:latin typeface="Times New Roman" panose="02020603050405020304" pitchFamily="18" charset="0"/>
                <a:cs typeface="Times New Roman" panose="02020603050405020304" pitchFamily="18" charset="0"/>
              </a:rPr>
              <a:t>GovGenius</a:t>
            </a:r>
            <a:r>
              <a:rPr lang="en-US" sz="2000" dirty="0">
                <a:latin typeface="Times New Roman" panose="02020603050405020304" pitchFamily="18" charset="0"/>
                <a:cs typeface="Times New Roman" panose="02020603050405020304" pitchFamily="18" charset="0"/>
              </a:rPr>
              <a:t> – Government Schemes Recommendation Web Application,” ResearchGate, 2024.</a:t>
            </a:r>
          </a:p>
          <a:p>
            <a:pPr algn="just">
              <a:lnSpc>
                <a:spcPct val="200000"/>
              </a:lnSpc>
            </a:pPr>
            <a:r>
              <a:rPr lang="en-US" sz="2000" dirty="0">
                <a:latin typeface="Times New Roman" panose="02020603050405020304" pitchFamily="18" charset="0"/>
                <a:cs typeface="Times New Roman" panose="02020603050405020304" pitchFamily="18" charset="0"/>
              </a:rPr>
              <a:t>[3] P. Singh, A. Verma, and K. Gupta, “AI-Driven Welfare Scheme Assistance and Management System,” International Journal of Research Publication and Reviews (IJRPR), vol. 6, no. 4, pp. 1203–1208, 2025. </a:t>
            </a:r>
          </a:p>
        </p:txBody>
      </p:sp>
    </p:spTree>
    <p:extLst>
      <p:ext uri="{BB962C8B-B14F-4D97-AF65-F5344CB8AC3E}">
        <p14:creationId xmlns:p14="http://schemas.microsoft.com/office/powerpoint/2010/main" val="1474967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4F3D9-43A8-1DEE-2E46-D32C22357E79}"/>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19ED4C32-BA11-971D-A875-02F26D880857}"/>
              </a:ext>
            </a:extLst>
          </p:cNvPr>
          <p:cNvPicPr>
            <a:picLocks noChangeAspect="1"/>
          </p:cNvPicPr>
          <p:nvPr/>
        </p:nvPicPr>
        <p:blipFill>
          <a:blip r:embed="rId2"/>
          <a:stretch>
            <a:fillRect/>
          </a:stretch>
        </p:blipFill>
        <p:spPr>
          <a:xfrm>
            <a:off x="11260867" y="139516"/>
            <a:ext cx="667440" cy="890998"/>
          </a:xfrm>
          <a:prstGeom prst="rect">
            <a:avLst/>
          </a:prstGeom>
          <a:noFill/>
          <a:ln cap="flat">
            <a:noFill/>
          </a:ln>
        </p:spPr>
      </p:pic>
      <p:sp>
        <p:nvSpPr>
          <p:cNvPr id="5" name="TextBox 4">
            <a:extLst>
              <a:ext uri="{FF2B5EF4-FFF2-40B4-BE49-F238E27FC236}">
                <a16:creationId xmlns:a16="http://schemas.microsoft.com/office/drawing/2014/main" id="{8CCB1FF5-ADFE-AC91-B2D2-82A6374BE89C}"/>
              </a:ext>
            </a:extLst>
          </p:cNvPr>
          <p:cNvSpPr txBox="1"/>
          <p:nvPr/>
        </p:nvSpPr>
        <p:spPr>
          <a:xfrm>
            <a:off x="7736114" y="311613"/>
            <a:ext cx="3350583" cy="646331"/>
          </a:xfrm>
          <a:prstGeom prst="rect">
            <a:avLst/>
          </a:prstGeom>
          <a:noFill/>
        </p:spPr>
        <p:txBody>
          <a:bodyPr wrap="square" rtlCol="0">
            <a:spAutoFit/>
          </a:bodyPr>
          <a:lstStyle/>
          <a:p>
            <a:pPr algn="r"/>
            <a:r>
              <a:rPr lang="en-US" dirty="0">
                <a:solidFill>
                  <a:schemeClr val="accent1">
                    <a:lumMod val="50000"/>
                  </a:schemeClr>
                </a:solidFill>
                <a:latin typeface="Times New Roman" panose="02020603050405020304" pitchFamily="18" charset="0"/>
                <a:cs typeface="Times New Roman" panose="02020603050405020304" pitchFamily="18" charset="0"/>
              </a:rPr>
              <a:t>GOVERNMENT COLLEGE OF ENGINEERING, ERODE</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D85DF36-DEDD-AE08-F243-97CB9C1672BF}"/>
              </a:ext>
            </a:extLst>
          </p:cNvPr>
          <p:cNvCxnSpPr>
            <a:cxnSpLocks/>
          </p:cNvCxnSpPr>
          <p:nvPr/>
        </p:nvCxnSpPr>
        <p:spPr>
          <a:xfrm>
            <a:off x="0" y="1117600"/>
            <a:ext cx="1219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539321DE-CB47-D13E-5B64-A6048AEDBF2F}"/>
              </a:ext>
            </a:extLst>
          </p:cNvPr>
          <p:cNvSpPr txBox="1"/>
          <p:nvPr/>
        </p:nvSpPr>
        <p:spPr>
          <a:xfrm>
            <a:off x="1308505" y="297098"/>
            <a:ext cx="2523268" cy="646331"/>
          </a:xfrm>
          <a:prstGeom prst="rect">
            <a:avLst/>
          </a:prstGeom>
          <a:noFill/>
        </p:spPr>
        <p:txBody>
          <a:bodyPr wrap="square" rtlCol="0">
            <a:spAutoFit/>
          </a:bodyPr>
          <a:lstStyle/>
          <a:p>
            <a:r>
              <a:rPr lang="en-US" dirty="0">
                <a:solidFill>
                  <a:schemeClr val="accent1">
                    <a:lumMod val="50000"/>
                  </a:schemeClr>
                </a:solidFill>
                <a:latin typeface="Times New Roman" panose="02020603050405020304" pitchFamily="18" charset="0"/>
                <a:cs typeface="Times New Roman" panose="02020603050405020304" pitchFamily="18" charset="0"/>
              </a:rPr>
              <a:t>ANNA UNIVERSITY</a:t>
            </a:r>
          </a:p>
          <a:p>
            <a:r>
              <a:rPr lang="en-US" dirty="0">
                <a:solidFill>
                  <a:schemeClr val="accent1">
                    <a:lumMod val="50000"/>
                  </a:schemeClr>
                </a:solidFill>
                <a:latin typeface="Times New Roman" panose="02020603050405020304" pitchFamily="18" charset="0"/>
                <a:cs typeface="Times New Roman" panose="02020603050405020304" pitchFamily="18" charset="0"/>
              </a:rPr>
              <a:t>CHENNAI</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FD53824-4799-3E0D-EFAC-43B55B2DE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24" y="139517"/>
            <a:ext cx="822080" cy="818426"/>
          </a:xfrm>
          <a:prstGeom prst="rect">
            <a:avLst/>
          </a:prstGeom>
        </p:spPr>
      </p:pic>
      <p:sp>
        <p:nvSpPr>
          <p:cNvPr id="11" name="TextBox 10">
            <a:extLst>
              <a:ext uri="{FF2B5EF4-FFF2-40B4-BE49-F238E27FC236}">
                <a16:creationId xmlns:a16="http://schemas.microsoft.com/office/drawing/2014/main" id="{BCE3B08D-725C-4358-69E5-B79CF515E592}"/>
              </a:ext>
            </a:extLst>
          </p:cNvPr>
          <p:cNvSpPr txBox="1"/>
          <p:nvPr/>
        </p:nvSpPr>
        <p:spPr>
          <a:xfrm>
            <a:off x="3922486" y="1465944"/>
            <a:ext cx="4347028" cy="861774"/>
          </a:xfrm>
          <a:prstGeom prst="rect">
            <a:avLst/>
          </a:prstGeom>
          <a:noFill/>
        </p:spPr>
        <p:txBody>
          <a:bodyPr wrap="square" rtlCol="0">
            <a:spAutoFit/>
          </a:bodyPr>
          <a:lstStyle/>
          <a:p>
            <a:r>
              <a:rPr lang="en-US" sz="5000" dirty="0">
                <a:solidFill>
                  <a:schemeClr val="accent1">
                    <a:lumMod val="75000"/>
                  </a:schemeClr>
                </a:solidFill>
                <a:latin typeface="Times New Roman" panose="02020603050405020304" pitchFamily="18" charset="0"/>
                <a:cs typeface="Times New Roman" panose="02020603050405020304" pitchFamily="18" charset="0"/>
              </a:rPr>
              <a:t>THANK YOU !</a:t>
            </a:r>
            <a:endParaRPr lang="en-IN" sz="5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E34051E-2C16-2A39-EF7E-D08F14D65562}"/>
              </a:ext>
            </a:extLst>
          </p:cNvPr>
          <p:cNvSpPr txBox="1"/>
          <p:nvPr/>
        </p:nvSpPr>
        <p:spPr>
          <a:xfrm>
            <a:off x="645764" y="2690575"/>
            <a:ext cx="10951150" cy="4130426"/>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FUTURE SCOPE </a:t>
            </a:r>
          </a:p>
          <a:p>
            <a:pPr marL="342900" indent="-342900">
              <a:lnSpc>
                <a:spcPct val="200000"/>
              </a:lnSpc>
              <a:buFont typeface="Courier New" panose="02070309020205020404" pitchFamily="49" charset="0"/>
              <a:buChar char="o"/>
            </a:pPr>
            <a:r>
              <a:rPr lang="en-US" sz="2000" dirty="0"/>
              <a:t>Develop a mobile application for easier access to welfare schemes anytime and anywhere.</a:t>
            </a:r>
          </a:p>
          <a:p>
            <a:pPr marL="342900" indent="-342900">
              <a:lnSpc>
                <a:spcPct val="200000"/>
              </a:lnSpc>
              <a:buFont typeface="Courier New" panose="02070309020205020404" pitchFamily="49" charset="0"/>
              <a:buChar char="o"/>
            </a:pPr>
            <a:r>
              <a:rPr lang="en-US" sz="2000" dirty="0"/>
              <a:t>Add notification and reminder features for application updates, deadlines, and new schemes.</a:t>
            </a:r>
          </a:p>
          <a:p>
            <a:pPr marL="342900" indent="-342900">
              <a:lnSpc>
                <a:spcPct val="200000"/>
              </a:lnSpc>
              <a:buFont typeface="Courier New" panose="02070309020205020404" pitchFamily="49" charset="0"/>
              <a:buChar char="o"/>
            </a:pPr>
            <a:r>
              <a:rPr lang="en-US" sz="2000" dirty="0"/>
              <a:t>Add multilingual support to improve accessibility for users from different regions.</a:t>
            </a:r>
          </a:p>
          <a:p>
            <a:pPr marL="342900" indent="-342900">
              <a:lnSpc>
                <a:spcPct val="200000"/>
              </a:lnSpc>
              <a:buFont typeface="Courier New" panose="02070309020205020404" pitchFamily="49" charset="0"/>
              <a:buChar char="o"/>
            </a:pPr>
            <a:r>
              <a:rPr lang="en-US" sz="2000" dirty="0"/>
              <a:t>Implement chatbot support for instant user assistance and guidance.</a:t>
            </a:r>
          </a:p>
          <a:p>
            <a:pPr marL="342900" indent="-342900">
              <a:lnSpc>
                <a:spcPct val="200000"/>
              </a:lnSpc>
              <a:buFont typeface="Courier New" panose="02070309020205020404" pitchFamily="49" charset="0"/>
              <a:buChar char="o"/>
            </a:pPr>
            <a:r>
              <a:rPr lang="en-US" sz="2000" dirty="0"/>
              <a:t>Integrate Aadhaar and government APIs for faster verification and automated processing.</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863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1268</Words>
  <Application>Microsoft Office PowerPoint</Application>
  <PresentationFormat>Widescreen</PresentationFormat>
  <Paragraphs>137</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 C</dc:creator>
  <cp:lastModifiedBy>Karthi C</cp:lastModifiedBy>
  <cp:revision>1</cp:revision>
  <dcterms:created xsi:type="dcterms:W3CDTF">2026-05-07T07:36:06Z</dcterms:created>
  <dcterms:modified xsi:type="dcterms:W3CDTF">2026-05-07T10:11:58Z</dcterms:modified>
</cp:coreProperties>
</file>